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3" r:id="rId4"/>
  </p:sldMasterIdLst>
  <p:notesMasterIdLst>
    <p:notesMasterId r:id="rId13"/>
  </p:notesMasterIdLst>
  <p:handoutMasterIdLst>
    <p:handoutMasterId r:id="rId14"/>
  </p:handoutMasterIdLst>
  <p:sldIdLst>
    <p:sldId id="266" r:id="rId5"/>
    <p:sldId id="812" r:id="rId6"/>
    <p:sldId id="816" r:id="rId7"/>
    <p:sldId id="817" r:id="rId8"/>
    <p:sldId id="818" r:id="rId9"/>
    <p:sldId id="819" r:id="rId10"/>
    <p:sldId id="815" r:id="rId11"/>
    <p:sldId id="820" r:id="rId12"/>
  </p:sldIdLst>
  <p:sldSz cx="12192000" cy="6858000"/>
  <p:notesSz cx="6858000" cy="9144000"/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33CC"/>
    <a:srgbClr val="CCECFF"/>
    <a:srgbClr val="FF0000"/>
    <a:srgbClr val="7A007A"/>
    <a:srgbClr val="6600FF"/>
    <a:srgbClr val="7F00FE"/>
    <a:srgbClr val="962D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676DD-133E-45D5-9456-07A010A62272}" v="38" dt="2021-11-14T15:13:14.541"/>
    <p1510:client id="{F3C977E9-35B9-4B17-9C6D-74ED24650A3C}" v="1035" vWet="1039" dt="2021-11-13T17:43:3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9" autoAdjust="0"/>
    <p:restoredTop sz="86383" autoAdjust="0"/>
  </p:normalViewPr>
  <p:slideViewPr>
    <p:cSldViewPr snapToGrid="0">
      <p:cViewPr varScale="1">
        <p:scale>
          <a:sx n="112" d="100"/>
          <a:sy n="112" d="100"/>
        </p:scale>
        <p:origin x="92" y="756"/>
      </p:cViewPr>
      <p:guideLst>
        <p:guide orient="horz" pos="21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4025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0" tIns="45605" rIns="91210" bIns="45605" numCol="1" anchor="t" anchorCtr="0" compatLnSpc="1">
            <a:prstTxWarp prst="textNoShape">
              <a:avLst/>
            </a:prstTxWarp>
          </a:bodyPr>
          <a:lstStyle>
            <a:lvl1pPr algn="l" defTabSz="911225" eaLnBrk="0" hangingPunct="0">
              <a:spcBef>
                <a:spcPct val="0"/>
              </a:spcBef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550" y="0"/>
            <a:ext cx="2995613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0" tIns="45605" rIns="91210" bIns="4560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spcBef>
                <a:spcPct val="0"/>
              </a:spcBef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99500"/>
            <a:ext cx="2994025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0" tIns="45605" rIns="91210" bIns="45605" numCol="1" anchor="b" anchorCtr="0" compatLnSpc="1">
            <a:prstTxWarp prst="textNoShape">
              <a:avLst/>
            </a:prstTxWarp>
          </a:bodyPr>
          <a:lstStyle>
            <a:lvl1pPr algn="l" defTabSz="911225" eaLnBrk="0" hangingPunct="0">
              <a:spcBef>
                <a:spcPct val="0"/>
              </a:spcBef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699500"/>
            <a:ext cx="2995613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0" tIns="45605" rIns="91210" bIns="45605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spcBef>
                <a:spcPct val="0"/>
              </a:spcBef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B9DE2DEB-C185-445D-AB8C-1DCC82944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50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76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35.2381" units="1/cm"/>
          <inkml:channelProperty channel="Y" name="resolution" value="135.75757" units="1/cm"/>
          <inkml:channelProperty channel="T" name="resolution" value="1" units="1/dev"/>
        </inkml:channelProperties>
      </inkml:inkSource>
      <inkml:timestamp xml:id="ts0" timeString="2021-11-14T14:51:13.1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84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30.61224" units="1/cm"/>
          <inkml:channelProperty channel="Y" name="resolution" value="130.90909" units="1/cm"/>
          <inkml:channelProperty channel="T" name="resolution" value="1" units="1/dev"/>
        </inkml:channelProperties>
      </inkml:inkSource>
      <inkml:timestamp xml:id="ts1" timeString="2021-11-14T14:56:35.281"/>
    </inkml:context>
  </inkml:definitions>
  <inkml:trace contextRef="#ctx0" brushRef="#br0">30417 18829 0,'0'0'16,"0"0"-16,0 0 15,0 0 1,0 0-16,0 0 16,0 0-16,0 0 15,0 0-15,0 0 16,0 0 0,0-9-16</inkml:trace>
  <inkml:trace contextRef="#ctx1" brushRef="#br0">32367 14314 0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4" tIns="45612" rIns="91224" bIns="45612" numCol="1" anchor="t" anchorCtr="0" compatLnSpc="1">
            <a:prstTxWarp prst="textNoShape">
              <a:avLst/>
            </a:prstTxWarp>
          </a:bodyPr>
          <a:lstStyle>
            <a:lvl1pPr algn="l" defTabSz="912813" eaLnBrk="0" hangingPunct="0">
              <a:spcBef>
                <a:spcPct val="0"/>
              </a:spcBef>
              <a:defRPr sz="1200">
                <a:latin typeface="Helvetic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4" tIns="45612" rIns="91224" bIns="45612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spcBef>
                <a:spcPct val="0"/>
              </a:spcBef>
              <a:defRPr sz="1200">
                <a:latin typeface="Helvetic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82625"/>
            <a:ext cx="6072188" cy="3416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25938"/>
            <a:ext cx="5029200" cy="409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4" tIns="45612" rIns="91224" bIns="456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8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3463"/>
            <a:ext cx="29718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4" tIns="45612" rIns="91224" bIns="45612" numCol="1" anchor="b" anchorCtr="0" compatLnSpc="1">
            <a:prstTxWarp prst="textNoShape">
              <a:avLst/>
            </a:prstTxWarp>
          </a:bodyPr>
          <a:lstStyle>
            <a:lvl1pPr algn="l" defTabSz="912813" eaLnBrk="0" hangingPunct="0">
              <a:spcBef>
                <a:spcPct val="0"/>
              </a:spcBef>
              <a:defRPr sz="1200">
                <a:latin typeface="Helvetic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53463"/>
            <a:ext cx="29718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4" tIns="45612" rIns="91224" bIns="45612" numCol="1" anchor="b" anchorCtr="0" compatLnSpc="1">
            <a:prstTxWarp prst="textNoShape">
              <a:avLst/>
            </a:prstTxWarp>
          </a:bodyPr>
          <a:lstStyle>
            <a:lvl1pPr algn="r" defTabSz="912813" eaLnBrk="0" hangingPunct="0">
              <a:spcBef>
                <a:spcPct val="0"/>
              </a:spcBef>
              <a:defRPr sz="1200">
                <a:latin typeface="Helvetica" pitchFamily="34" charset="0"/>
                <a:cs typeface="+mn-cs"/>
              </a:defRPr>
            </a:lvl1pPr>
          </a:lstStyle>
          <a:p>
            <a:pPr>
              <a:defRPr/>
            </a:pPr>
            <a:fld id="{DC3F7418-58EE-41A5-AB52-B67D14CDD3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34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6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483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6863669-305B-453F-95B9-0ADEF20C3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01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524FCDB-56AC-4F1E-B4A8-BBB78FDB3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21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040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F86B92D-0ED4-4862-A2BD-1D2E0493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27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F86B92D-0ED4-4862-A2BD-1D2E0493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66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9812867" y="5740400"/>
            <a:ext cx="6858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>
              <a:spcBef>
                <a:spcPct val="50000"/>
              </a:spcBef>
            </a:pPr>
            <a:endParaRPr lang="en-US" sz="240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320867" y="5740400"/>
            <a:ext cx="5842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>
              <a:spcBef>
                <a:spcPct val="50000"/>
              </a:spcBef>
            </a:pPr>
            <a:endParaRPr lang="en-US" sz="2400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0727267" y="5740400"/>
            <a:ext cx="6350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>
              <a:spcBef>
                <a:spcPct val="50000"/>
              </a:spcBef>
            </a:pPr>
            <a:endParaRPr lang="en-US" sz="2400"/>
          </a:p>
        </p:txBody>
      </p:sp>
      <p:sp>
        <p:nvSpPr>
          <p:cNvPr id="11572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625475"/>
            <a:ext cx="10363200" cy="2803525"/>
          </a:xfrm>
        </p:spPr>
        <p:txBody>
          <a:bodyPr/>
          <a:lstStyle>
            <a:lvl1pPr algn="ctr">
              <a:defRPr sz="40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6251" y="3594100"/>
            <a:ext cx="11290300" cy="9667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Alan FernElectrical and Computer Engineering</a:t>
            </a:r>
          </a:p>
          <a:p>
            <a:pPr>
              <a:defRPr/>
            </a:pPr>
            <a:r>
              <a:rPr lang="en-US"/>
              <a:t>Purdue University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550400" y="6537326"/>
            <a:ext cx="2540000" cy="244475"/>
          </a:xfrm>
        </p:spPr>
        <p:txBody>
          <a:bodyPr>
            <a:spAutoFit/>
          </a:bodyPr>
          <a:lstStyle>
            <a:lvl1pPr>
              <a:defRPr sz="1000">
                <a:latin typeface="+mn-lt"/>
              </a:defRPr>
            </a:lvl1pPr>
          </a:lstStyle>
          <a:p>
            <a:pPr>
              <a:defRPr/>
            </a:pPr>
            <a:fld id="{1FE7F4E6-C203-4205-8428-B80F5C4B7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1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FC1C8-4C6E-42D1-A9B9-ED17EA7A8B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0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D1E86-5BA5-4ED3-B8D1-5792C20255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6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87425"/>
            <a:ext cx="5080000" cy="5005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7425"/>
            <a:ext cx="5080000" cy="5005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09859-0EAC-40E4-AD45-879945C2CB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6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51835-D81C-44FF-96B3-536499A055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1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DEE17-B153-4DEA-AC2B-50D8995579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0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7F21A-007A-4EC7-B985-8250C57D7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A28E2-546D-42AB-B75B-8A8FE7350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8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A8C48-79B1-46E3-A85D-4C1C231B0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EA1DC-FBB0-4099-8CDF-BE2BB1EAC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3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0451" y="298451"/>
            <a:ext cx="2597149" cy="5694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2651" y="298451"/>
            <a:ext cx="7594600" cy="5694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97006-80EF-48E0-81F5-B19C47A82F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63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651" y="298450"/>
            <a:ext cx="10363200" cy="6175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987425"/>
            <a:ext cx="5080000" cy="5005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7425"/>
            <a:ext cx="5080000" cy="5005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8D09E-6EAB-4583-88C8-8097156CFB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96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7696199" y="0"/>
            <a:ext cx="4572003" cy="6858000"/>
            <a:chOff x="0" y="0"/>
            <a:chExt cx="4572002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457200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/>
                <a:t>v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953" r="49988"/>
            <a:stretch/>
          </p:blipFill>
          <p:spPr>
            <a:xfrm>
              <a:off x="0" y="6031832"/>
              <a:ext cx="4572001" cy="826168"/>
            </a:xfrm>
            <a:custGeom>
              <a:avLst/>
              <a:gdLst>
                <a:gd name="connsiteX0" fmla="*/ 0 w 4572001"/>
                <a:gd name="connsiteY0" fmla="*/ 0 h 6858000"/>
                <a:gd name="connsiteX1" fmla="*/ 4572001 w 4572001"/>
                <a:gd name="connsiteY1" fmla="*/ 0 h 6858000"/>
                <a:gd name="connsiteX2" fmla="*/ 4572001 w 4572001"/>
                <a:gd name="connsiteY2" fmla="*/ 6858000 h 6858000"/>
                <a:gd name="connsiteX3" fmla="*/ 0 w 457200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72001" h="6858000">
                  <a:moveTo>
                    <a:pt x="0" y="0"/>
                  </a:moveTo>
                  <a:lnTo>
                    <a:pt x="4572001" y="0"/>
                  </a:lnTo>
                  <a:lnTo>
                    <a:pt x="4572001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</p:grp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9795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122363"/>
            <a:ext cx="7716253" cy="2387600"/>
          </a:xfrm>
        </p:spPr>
        <p:txBody>
          <a:bodyPr anchor="b" anchorCtr="0">
            <a:normAutofit/>
          </a:bodyPr>
          <a:lstStyle>
            <a:lvl1pPr algn="l">
              <a:defRPr sz="3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7716253" cy="165576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2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761" y="4741560"/>
            <a:ext cx="1165484" cy="121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6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237" y="658630"/>
            <a:ext cx="9879563" cy="494927"/>
          </a:xfrm>
        </p:spPr>
        <p:txBody>
          <a:bodyPr>
            <a:normAutofit/>
          </a:bodyPr>
          <a:lstStyle>
            <a:lvl1pPr>
              <a:defRPr sz="1575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238" y="1380931"/>
            <a:ext cx="9879564" cy="5187820"/>
          </a:xfrm>
        </p:spPr>
        <p:txBody>
          <a:bodyPr>
            <a:normAutofit/>
          </a:bodyPr>
          <a:lstStyle>
            <a:lvl1pPr marL="128588" indent="-128588">
              <a:buClr>
                <a:srgbClr val="DC4405"/>
              </a:buClr>
              <a:buFont typeface="Courier New" panose="02070309020205020404" pitchFamily="49" charset="0"/>
              <a:buChar char="o"/>
              <a:defRPr sz="9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85763" indent="-128588">
              <a:buClr>
                <a:srgbClr val="DC4405"/>
              </a:buClr>
              <a:buFont typeface="Courier New" panose="02070309020205020404" pitchFamily="49" charset="0"/>
              <a:buChar char="o"/>
              <a:defRPr sz="788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42938" indent="-128588">
              <a:buClr>
                <a:srgbClr val="DC4405"/>
              </a:buClr>
              <a:buFont typeface="Courier New" panose="02070309020205020404" pitchFamily="49" charset="0"/>
              <a:buChar char="o"/>
              <a:defRPr sz="675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00113" indent="-128588">
              <a:buClr>
                <a:srgbClr val="DC4405"/>
              </a:buClr>
              <a:buFont typeface="Courier New" panose="02070309020205020404" pitchFamily="49" charset="0"/>
              <a:buChar char="o"/>
              <a:defRPr sz="619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57288" indent="-128588">
              <a:buClr>
                <a:srgbClr val="DC4405"/>
              </a:buClr>
              <a:buFont typeface="Courier New" panose="02070309020205020404" pitchFamily="49" charset="0"/>
              <a:buChar char="o"/>
              <a:defRPr sz="619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081"/>
          <a:stretch>
            <a:fillRect/>
          </a:stretch>
        </p:blipFill>
        <p:spPr>
          <a:xfrm>
            <a:off x="3" y="0"/>
            <a:ext cx="723901" cy="6858000"/>
          </a:xfrm>
          <a:custGeom>
            <a:avLst/>
            <a:gdLst>
              <a:gd name="connsiteX0" fmla="*/ 0 w 723901"/>
              <a:gd name="connsiteY0" fmla="*/ 0 h 6858000"/>
              <a:gd name="connsiteX1" fmla="*/ 723901 w 723901"/>
              <a:gd name="connsiteY1" fmla="*/ 0 h 6858000"/>
              <a:gd name="connsiteX2" fmla="*/ 723901 w 723901"/>
              <a:gd name="connsiteY2" fmla="*/ 6858000 h 6858000"/>
              <a:gd name="connsiteX3" fmla="*/ 0 w 7239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901" h="6858000">
                <a:moveTo>
                  <a:pt x="0" y="0"/>
                </a:moveTo>
                <a:lnTo>
                  <a:pt x="723901" y="0"/>
                </a:lnTo>
                <a:lnTo>
                  <a:pt x="7239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Oval 7"/>
          <p:cNvSpPr>
            <a:spLocks noChangeAspect="1"/>
          </p:cNvSpPr>
          <p:nvPr userDrawn="1"/>
        </p:nvSpPr>
        <p:spPr>
          <a:xfrm>
            <a:off x="479894" y="512636"/>
            <a:ext cx="786908" cy="786908"/>
          </a:xfrm>
          <a:prstGeom prst="ellipse">
            <a:avLst/>
          </a:prstGeom>
          <a:solidFill>
            <a:schemeClr val="bg1"/>
          </a:solidFill>
          <a:ln w="50800">
            <a:solidFill>
              <a:srgbClr val="DC44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DC4405"/>
              </a:solidFill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16690" y="658626"/>
            <a:ext cx="504121" cy="50412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450"/>
            </a:lvl1pPr>
          </a:lstStyle>
          <a:p>
            <a:r>
              <a:rPr lang="en-US"/>
              <a:t>Icon image</a:t>
            </a:r>
          </a:p>
        </p:txBody>
      </p:sp>
    </p:spTree>
    <p:extLst>
      <p:ext uri="{BB962C8B-B14F-4D97-AF65-F5344CB8AC3E}">
        <p14:creationId xmlns:p14="http://schemas.microsoft.com/office/powerpoint/2010/main" val="25008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auto">
          <a:xfrm>
            <a:off x="11360151" y="6370639"/>
            <a:ext cx="27728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>
              <a:spcBef>
                <a:spcPct val="50000"/>
              </a:spcBef>
            </a:pPr>
            <a:endParaRPr lang="en-US" sz="2400"/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1552767" y="6370639"/>
            <a:ext cx="302684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>
              <a:spcBef>
                <a:spcPct val="50000"/>
              </a:spcBef>
            </a:pPr>
            <a:endParaRPr lang="en-US" sz="2400"/>
          </a:p>
        </p:txBody>
      </p:sp>
      <p:sp>
        <p:nvSpPr>
          <p:cNvPr id="1028" name="Rectangle 23"/>
          <p:cNvSpPr>
            <a:spLocks noGrp="1" noChangeArrowheads="1"/>
          </p:cNvSpPr>
          <p:nvPr>
            <p:ph type="title"/>
          </p:nvPr>
        </p:nvSpPr>
        <p:spPr bwMode="auto">
          <a:xfrm>
            <a:off x="882651" y="298450"/>
            <a:ext cx="103632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2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87425"/>
            <a:ext cx="10363200" cy="500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717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57225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400">
                <a:latin typeface="Comic Sans MS" pitchFamily="66" charset="0"/>
                <a:cs typeface="+mn-cs"/>
              </a:defRPr>
            </a:lvl1pPr>
          </a:lstStyle>
          <a:p>
            <a:pPr>
              <a:defRPr/>
            </a:pPr>
            <a:fld id="{F69B3DEE-0933-4982-8CB8-F1AF63EEE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2" r:id="rId13"/>
    <p:sldLayoutId id="2147483823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66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FF3300"/>
        </a:buClr>
        <a:buSzPct val="85000"/>
        <a:buFont typeface="Marlett" pitchFamily="2" charset="2"/>
        <a:buChar char="h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33"/>
        </a:buClr>
        <a:buSzPct val="85000"/>
        <a:buFont typeface="Marlett" pitchFamily="2" charset="2"/>
        <a:buChar char="5"/>
        <a:defRPr kumimoji="1"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50000"/>
        <a:buFont typeface="Marlett" pitchFamily="2" charset="2"/>
        <a:buChar char="g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arlett" pitchFamily="2" charset="2"/>
        <a:buChar char="6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3972" y="1740644"/>
            <a:ext cx="7689160" cy="17907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Think out Loud- Pigeonhole Principles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6904DC-7944-4A22-A15F-EB166B43A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502" y="3790701"/>
            <a:ext cx="5787190" cy="1241822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Make sure to read book material!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80ECF7-437A-4506-85AA-B9104C5971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10950120" y="5153040"/>
              <a:ext cx="702360" cy="162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80ECF7-437A-4506-85AA-B9104C5971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40760" y="5143680"/>
                <a:ext cx="721080" cy="164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06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2270376" y="665015"/>
            <a:ext cx="7534012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– Example 1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8CE00-885F-41C0-9AF3-85BA415A9354}"/>
              </a:ext>
            </a:extLst>
          </p:cNvPr>
          <p:cNvSpPr txBox="1"/>
          <p:nvPr/>
        </p:nvSpPr>
        <p:spPr>
          <a:xfrm>
            <a:off x="2270376" y="1598057"/>
            <a:ext cx="77957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/>
              <a:t> </a:t>
            </a:r>
            <a:r>
              <a:rPr lang="en-US"/>
              <a:t>Given any set of seven integers, must there be two that</a:t>
            </a:r>
          </a:p>
          <a:p>
            <a:r>
              <a:rPr lang="en-US"/>
              <a:t> have the same remainder when divided by 6? Why? </a:t>
            </a:r>
          </a:p>
          <a:p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7C461-8A92-4B4D-8B3E-AC2E2F488FE2}"/>
              </a:ext>
            </a:extLst>
          </p:cNvPr>
          <p:cNvSpPr txBox="1"/>
          <p:nvPr/>
        </p:nvSpPr>
        <p:spPr>
          <a:xfrm>
            <a:off x="2364608" y="289961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b="1">
                <a:solidFill>
                  <a:srgbClr val="FF0000"/>
                </a:solidFill>
              </a:rPr>
              <a:t>Yes!!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5F50C-0B7A-4DC3-A234-CAA1C7181784}"/>
              </a:ext>
            </a:extLst>
          </p:cNvPr>
          <p:cNvSpPr txBox="1"/>
          <p:nvPr/>
        </p:nvSpPr>
        <p:spPr>
          <a:xfrm>
            <a:off x="2364608" y="3556590"/>
            <a:ext cx="72907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Pigeonholes =  6 (6 possible remainders: 0, 1, 2, 3, 4, 5)</a:t>
            </a:r>
          </a:p>
          <a:p>
            <a:r>
              <a:rPr lang="en-US" sz="2200"/>
              <a:t> </a:t>
            </a:r>
          </a:p>
          <a:p>
            <a:r>
              <a:rPr lang="en-US" sz="2200"/>
              <a:t>Pigeons =  7 (integers to be chosen)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38487-6DFF-4B55-A084-46BEAB913F43}"/>
              </a:ext>
            </a:extLst>
          </p:cNvPr>
          <p:cNvSpPr txBox="1"/>
          <p:nvPr/>
        </p:nvSpPr>
        <p:spPr>
          <a:xfrm>
            <a:off x="8822115" y="4417934"/>
            <a:ext cx="8210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7 &gt;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7F29A-5299-454C-AD92-CD6FACACA357}"/>
              </a:ext>
            </a:extLst>
          </p:cNvPr>
          <p:cNvSpPr txBox="1"/>
          <p:nvPr/>
        </p:nvSpPr>
        <p:spPr>
          <a:xfrm>
            <a:off x="2364608" y="5141209"/>
            <a:ext cx="7013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solidFill>
                  <a:srgbClr val="FF0000"/>
                </a:solidFill>
              </a:rPr>
              <a:t>By the pigeonhole principle, at least two integers have </a:t>
            </a:r>
          </a:p>
          <a:p>
            <a:r>
              <a:rPr lang="en-US" sz="2200">
                <a:solidFill>
                  <a:srgbClr val="FF0000"/>
                </a:solidFill>
              </a:rPr>
              <a:t>the same remainder.</a:t>
            </a:r>
          </a:p>
        </p:txBody>
      </p:sp>
    </p:spTree>
    <p:extLst>
      <p:ext uri="{BB962C8B-B14F-4D97-AF65-F5344CB8AC3E}">
        <p14:creationId xmlns:p14="http://schemas.microsoft.com/office/powerpoint/2010/main" val="8980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2293548" y="679110"/>
            <a:ext cx="7534012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– Example 2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8CE00-885F-41C0-9AF3-85BA415A9354}"/>
              </a:ext>
            </a:extLst>
          </p:cNvPr>
          <p:cNvSpPr txBox="1"/>
          <p:nvPr/>
        </p:nvSpPr>
        <p:spPr>
          <a:xfrm>
            <a:off x="2364608" y="1618693"/>
            <a:ext cx="779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Given any set of seven integers, must there be two that </a:t>
            </a:r>
          </a:p>
          <a:p>
            <a:r>
              <a:rPr lang="en-US"/>
              <a:t>have the same remainder when divided by 8? Why?</a:t>
            </a:r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2DDE1D-8F79-4055-81FE-08C0FB1C49A5}"/>
              </a:ext>
            </a:extLst>
          </p:cNvPr>
          <p:cNvSpPr txBox="1"/>
          <p:nvPr/>
        </p:nvSpPr>
        <p:spPr>
          <a:xfrm>
            <a:off x="2364608" y="284465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b="1">
                <a:solidFill>
                  <a:srgbClr val="FF0000"/>
                </a:solidFill>
              </a:rPr>
              <a:t>No!!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F8ABC-CA87-4D58-8DCF-2DAAE2DF1301}"/>
              </a:ext>
            </a:extLst>
          </p:cNvPr>
          <p:cNvSpPr txBox="1"/>
          <p:nvPr/>
        </p:nvSpPr>
        <p:spPr>
          <a:xfrm>
            <a:off x="2364608" y="3429000"/>
            <a:ext cx="79191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Pigeonholes =  8 (8 possible remainders: 0, 1, 2, 3, 4, 5, 6, 7)</a:t>
            </a:r>
          </a:p>
          <a:p>
            <a:r>
              <a:rPr lang="en-US" sz="2200"/>
              <a:t> </a:t>
            </a:r>
          </a:p>
          <a:p>
            <a:r>
              <a:rPr lang="en-US" sz="2200"/>
              <a:t>Pigeons =  7 (integers to be chosen)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08675-B86A-486C-A65E-070B6274C06D}"/>
              </a:ext>
            </a:extLst>
          </p:cNvPr>
          <p:cNvSpPr txBox="1"/>
          <p:nvPr/>
        </p:nvSpPr>
        <p:spPr>
          <a:xfrm>
            <a:off x="2364609" y="5164881"/>
            <a:ext cx="6524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solidFill>
                  <a:srgbClr val="FF0000"/>
                </a:solidFill>
              </a:rPr>
              <a:t>Therefore, the pigeonhole principle does not apply.</a:t>
            </a:r>
          </a:p>
        </p:txBody>
      </p:sp>
    </p:spTree>
    <p:extLst>
      <p:ext uri="{BB962C8B-B14F-4D97-AF65-F5344CB8AC3E}">
        <p14:creationId xmlns:p14="http://schemas.microsoft.com/office/powerpoint/2010/main" val="242423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2532088" y="643321"/>
            <a:ext cx="7534012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– Example 3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8CE00-885F-41C0-9AF3-85BA415A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09749" y="163995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61D0F-F4AD-412E-A6A9-660F13569E22}"/>
              </a:ext>
            </a:extLst>
          </p:cNvPr>
          <p:cNvSpPr txBox="1"/>
          <p:nvPr/>
        </p:nvSpPr>
        <p:spPr>
          <a:xfrm>
            <a:off x="2394480" y="1639958"/>
            <a:ext cx="78907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Prove that any (n + 1)-element subset of {1, 2, . . . , 2n} contains two integers that are relatively prime.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E465E-E25E-4769-B539-56EB043E84F7}"/>
              </a:ext>
            </a:extLst>
          </p:cNvPr>
          <p:cNvSpPr txBox="1"/>
          <p:nvPr/>
        </p:nvSpPr>
        <p:spPr>
          <a:xfrm>
            <a:off x="2906232" y="2840287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{1, 2},  {3, 4}, . . . , {2n − 1, 2n}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8A328-6852-4593-A65A-439B584637AA}"/>
              </a:ext>
            </a:extLst>
          </p:cNvPr>
          <p:cNvSpPr txBox="1"/>
          <p:nvPr/>
        </p:nvSpPr>
        <p:spPr>
          <a:xfrm>
            <a:off x="2364609" y="3809619"/>
            <a:ext cx="84353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Pigeonholes = n (n subsets of pairwise relatively prime numbers)</a:t>
            </a:r>
          </a:p>
          <a:p>
            <a:r>
              <a:rPr lang="en-US" sz="2200"/>
              <a:t> </a:t>
            </a:r>
          </a:p>
          <a:p>
            <a:r>
              <a:rPr lang="en-US" sz="2200"/>
              <a:t>Pigeons = n+1 (integers to be chosen)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1AD74-9370-4262-9D86-235C470D80E0}"/>
              </a:ext>
            </a:extLst>
          </p:cNvPr>
          <p:cNvSpPr txBox="1"/>
          <p:nvPr/>
        </p:nvSpPr>
        <p:spPr>
          <a:xfrm>
            <a:off x="7907714" y="4686947"/>
            <a:ext cx="13644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(n+1) &gt; 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72A89C-AE91-4981-9613-54C0CA243387}"/>
              </a:ext>
            </a:extLst>
          </p:cNvPr>
          <p:cNvSpPr txBox="1"/>
          <p:nvPr/>
        </p:nvSpPr>
        <p:spPr>
          <a:xfrm>
            <a:off x="2364608" y="5322690"/>
            <a:ext cx="72826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FF0000"/>
                </a:solidFill>
              </a:rPr>
              <a:t>By the pigeonhole principle, at least two integers are relatively prime.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5A184-7C00-4B18-B37C-8FA4D8C92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319955" y="2535610"/>
            <a:ext cx="5587760" cy="1174515"/>
          </a:xfrm>
          <a:prstGeom prst="rect">
            <a:avLst/>
          </a:prstGeom>
          <a:noFill/>
          <a:ln w="19050" cap="flat" cmpd="sng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r" eaLnBrk="0" hangingPunct="0">
              <a:spcBef>
                <a:spcPct val="50000"/>
              </a:spcBef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5395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2359810" y="658626"/>
            <a:ext cx="7534012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– Example 4 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8CE00-885F-41C0-9AF3-85BA415A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09749" y="163995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61D0F-F4AD-412E-A6A9-660F13569E22}"/>
              </a:ext>
            </a:extLst>
          </p:cNvPr>
          <p:cNvSpPr txBox="1"/>
          <p:nvPr/>
        </p:nvSpPr>
        <p:spPr>
          <a:xfrm>
            <a:off x="2394479" y="1513015"/>
            <a:ext cx="74016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32629"/>
                </a:solidFill>
                <a:latin typeface="+mj-lt"/>
              </a:rPr>
              <a:t>During a month with 30 days, a baseball team plays at least one game a day, but no more than 45 games. Show that there must be a period of some number of consecutive days during which the team must play exactly 14 games.</a:t>
            </a:r>
            <a:endParaRPr lang="en-US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63F0D-EEFC-411B-AC3D-D6BDFCF5E6EE}"/>
              </a:ext>
            </a:extLst>
          </p:cNvPr>
          <p:cNvSpPr txBox="1"/>
          <p:nvPr/>
        </p:nvSpPr>
        <p:spPr>
          <a:xfrm>
            <a:off x="2302112" y="3731932"/>
            <a:ext cx="7814294" cy="79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+mj-lt"/>
              </a:rPr>
              <a:t> Let, </a:t>
            </a:r>
            <a:r>
              <a:rPr lang="en-US" altLang="en-US" sz="2200" err="1">
                <a:latin typeface="+mj-lt"/>
              </a:rPr>
              <a:t>a</a:t>
            </a:r>
            <a:r>
              <a:rPr lang="en-US" altLang="en-US" sz="2200" baseline="-25000" err="1">
                <a:latin typeface="+mj-lt"/>
              </a:rPr>
              <a:t>j</a:t>
            </a:r>
            <a:r>
              <a:rPr lang="en-US" altLang="en-US" sz="2200" baseline="-25000">
                <a:latin typeface="+mj-lt"/>
              </a:rPr>
              <a:t> </a:t>
            </a:r>
            <a:r>
              <a:rPr lang="en-US" altLang="en-US" sz="2200">
                <a:latin typeface="+mj-lt"/>
                <a:cs typeface="Calibri" panose="020F0502020204030204" pitchFamily="34" charset="0"/>
              </a:rPr>
              <a:t> be t</a:t>
            </a:r>
            <a:r>
              <a:rPr lang="en-US" sz="22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he number of games played from the 1</a:t>
            </a:r>
            <a:r>
              <a:rPr lang="en-US" sz="2200" baseline="300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 </a:t>
            </a:r>
            <a:r>
              <a:rPr lang="en-US" sz="22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through the </a:t>
            </a:r>
            <a:r>
              <a:rPr lang="en-US" sz="220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200" baseline="3000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200" baseline="300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day of the month,</a:t>
            </a:r>
            <a:r>
              <a:rPr lang="en-US" altLang="en-US" sz="2200">
                <a:sym typeface="Symbol" panose="05050102010706020507" pitchFamily="18" charset="2"/>
              </a:rPr>
              <a:t> j = 1, 2, …, 30</a:t>
            </a:r>
            <a:r>
              <a:rPr lang="en-US" sz="22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3E346-E574-4AF1-8C0B-1FE701217EAD}"/>
              </a:ext>
            </a:extLst>
          </p:cNvPr>
          <p:cNvSpPr txBox="1"/>
          <p:nvPr/>
        </p:nvSpPr>
        <p:spPr>
          <a:xfrm>
            <a:off x="2302113" y="4655693"/>
            <a:ext cx="7814293" cy="853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+mj-lt"/>
              </a:rPr>
              <a:t> </a:t>
            </a:r>
            <a:r>
              <a:rPr lang="en-US" altLang="en-US" sz="2200">
                <a:latin typeface="+mj-lt"/>
              </a:rPr>
              <a:t>a</a:t>
            </a:r>
            <a:r>
              <a:rPr lang="en-US" altLang="en-US" sz="2200" baseline="-25000">
                <a:latin typeface="+mj-lt"/>
              </a:rPr>
              <a:t>1</a:t>
            </a:r>
            <a:r>
              <a:rPr lang="en-US" altLang="en-US" sz="2200">
                <a:latin typeface="+mj-lt"/>
              </a:rPr>
              <a:t>, a</a:t>
            </a:r>
            <a:r>
              <a:rPr lang="en-US" altLang="en-US" sz="2200" baseline="-25000">
                <a:latin typeface="+mj-lt"/>
              </a:rPr>
              <a:t>2</a:t>
            </a:r>
            <a:r>
              <a:rPr lang="en-US" altLang="en-US" sz="2200">
                <a:latin typeface="+mj-lt"/>
              </a:rPr>
              <a:t>, …, a</a:t>
            </a:r>
            <a:r>
              <a:rPr lang="en-US" altLang="en-US" sz="2200" baseline="-25000">
                <a:latin typeface="+mj-lt"/>
              </a:rPr>
              <a:t>30</a:t>
            </a:r>
            <a:r>
              <a:rPr lang="en-US" altLang="en-US" sz="2200">
                <a:latin typeface="+mj-lt"/>
              </a:rPr>
              <a:t> must be an increasing sequence of distinct positive integers, with 1</a:t>
            </a:r>
            <a:r>
              <a:rPr lang="en-US" altLang="en-US" sz="2200">
                <a:latin typeface="+mj-lt"/>
                <a:sym typeface="Symbol" panose="05050102010706020507" pitchFamily="18" charset="2"/>
              </a:rPr>
              <a:t>a</a:t>
            </a:r>
            <a:r>
              <a:rPr lang="en-US" altLang="en-US" sz="2200" baseline="-25000">
                <a:latin typeface="+mj-lt"/>
                <a:sym typeface="Symbol" panose="05050102010706020507" pitchFamily="18" charset="2"/>
              </a:rPr>
              <a:t>j</a:t>
            </a:r>
            <a:r>
              <a:rPr lang="en-US" altLang="en-US" sz="2200">
                <a:latin typeface="+mj-lt"/>
                <a:sym typeface="Symbol" panose="05050102010706020507" pitchFamily="18" charset="2"/>
              </a:rPr>
              <a:t> 45, j = 1, 2, …, 30.</a:t>
            </a:r>
            <a:endParaRPr lang="en-US" sz="22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95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2532088" y="643321"/>
            <a:ext cx="7534012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– Example 4(cont.)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8CE00-885F-41C0-9AF3-85BA415A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09749" y="163995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63F0D-EEFC-411B-AC3D-D6BDFCF5E6EE}"/>
              </a:ext>
            </a:extLst>
          </p:cNvPr>
          <p:cNvSpPr txBox="1"/>
          <p:nvPr/>
        </p:nvSpPr>
        <p:spPr>
          <a:xfrm>
            <a:off x="2364608" y="1558058"/>
            <a:ext cx="7814294" cy="42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+mj-lt"/>
              </a:rPr>
              <a:t> </a:t>
            </a:r>
            <a:r>
              <a:rPr lang="en-US" altLang="en-US" sz="2200" err="1">
                <a:latin typeface="+mj-lt"/>
              </a:rPr>
              <a:t>b</a:t>
            </a:r>
            <a:r>
              <a:rPr lang="en-US" altLang="en-US" sz="2200" baseline="-25000" err="1">
                <a:latin typeface="+mj-lt"/>
              </a:rPr>
              <a:t>j</a:t>
            </a:r>
            <a:r>
              <a:rPr lang="en-US" sz="22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200" err="1">
                <a:latin typeface="+mj-lt"/>
                <a:ea typeface="Calibri" panose="020F0502020204030204" pitchFamily="34" charset="0"/>
              </a:rPr>
              <a:t>a</a:t>
            </a:r>
            <a:r>
              <a:rPr lang="en-US" sz="2200" baseline="-25000" err="1">
                <a:latin typeface="+mj-lt"/>
                <a:ea typeface="Calibri" panose="020F0502020204030204" pitchFamily="34" charset="0"/>
              </a:rPr>
              <a:t>j</a:t>
            </a:r>
            <a:r>
              <a:rPr lang="en-US" sz="2200" baseline="-2500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>
                <a:latin typeface="+mj-lt"/>
                <a:ea typeface="Calibri" panose="020F0502020204030204" pitchFamily="34" charset="0"/>
              </a:rPr>
              <a:t>+ 14, j = 1, …, 30</a:t>
            </a:r>
            <a:r>
              <a:rPr lang="en-US" altLang="en-US" sz="2200">
                <a:latin typeface="+mj-lt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33FBF-2DDC-43E9-9E1A-875132D01461}"/>
              </a:ext>
            </a:extLst>
          </p:cNvPr>
          <p:cNvSpPr txBox="1"/>
          <p:nvPr/>
        </p:nvSpPr>
        <p:spPr>
          <a:xfrm>
            <a:off x="2364609" y="2248428"/>
            <a:ext cx="7814293" cy="853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+mj-lt"/>
              </a:rPr>
              <a:t> </a:t>
            </a:r>
            <a:r>
              <a:rPr lang="en-US" altLang="en-US" sz="2200">
                <a:latin typeface="+mj-lt"/>
              </a:rPr>
              <a:t>b</a:t>
            </a:r>
            <a:r>
              <a:rPr lang="en-US" altLang="en-US" sz="2200" baseline="-25000">
                <a:latin typeface="+mj-lt"/>
              </a:rPr>
              <a:t>1</a:t>
            </a:r>
            <a:r>
              <a:rPr lang="en-US" altLang="en-US" sz="2200">
                <a:latin typeface="+mj-lt"/>
              </a:rPr>
              <a:t>, b</a:t>
            </a:r>
            <a:r>
              <a:rPr lang="en-US" altLang="en-US" sz="2200" baseline="-25000">
                <a:latin typeface="+mj-lt"/>
              </a:rPr>
              <a:t>2</a:t>
            </a:r>
            <a:r>
              <a:rPr lang="en-US" altLang="en-US" sz="2200">
                <a:latin typeface="+mj-lt"/>
              </a:rPr>
              <a:t>, …, b</a:t>
            </a:r>
            <a:r>
              <a:rPr lang="en-US" altLang="en-US" sz="2200" baseline="-25000">
                <a:latin typeface="+mj-lt"/>
              </a:rPr>
              <a:t>30</a:t>
            </a:r>
            <a:r>
              <a:rPr lang="en-US" altLang="en-US" sz="2200">
                <a:latin typeface="+mj-lt"/>
              </a:rPr>
              <a:t> must be an increasing sequence of distinct positive integers, with </a:t>
            </a:r>
            <a:r>
              <a:rPr lang="en-US" altLang="en-US" sz="2200"/>
              <a:t>15 </a:t>
            </a:r>
            <a:r>
              <a:rPr lang="en-US" altLang="en-US" sz="2200">
                <a:sym typeface="Symbol" panose="05050102010706020507" pitchFamily="18" charset="2"/>
              </a:rPr>
              <a:t> </a:t>
            </a:r>
            <a:r>
              <a:rPr lang="en-US" altLang="en-US" sz="2200" err="1">
                <a:sym typeface="Symbol" panose="05050102010706020507" pitchFamily="18" charset="2"/>
              </a:rPr>
              <a:t>b</a:t>
            </a:r>
            <a:r>
              <a:rPr lang="en-US" altLang="en-US" sz="2200" baseline="-25000" err="1">
                <a:sym typeface="Symbol" panose="05050102010706020507" pitchFamily="18" charset="2"/>
              </a:rPr>
              <a:t>j</a:t>
            </a:r>
            <a:r>
              <a:rPr lang="en-US" altLang="en-US" sz="2200" baseline="-25000">
                <a:sym typeface="Symbol" panose="05050102010706020507" pitchFamily="18" charset="2"/>
              </a:rPr>
              <a:t> </a:t>
            </a:r>
            <a:r>
              <a:rPr lang="en-US" altLang="en-US" sz="2200">
                <a:sym typeface="Symbol" panose="05050102010706020507" pitchFamily="18" charset="2"/>
              </a:rPr>
              <a:t> 59, j = 1, 2, …, 30</a:t>
            </a:r>
            <a:r>
              <a:rPr lang="en-US" altLang="en-US" sz="2200">
                <a:latin typeface="+mj-lt"/>
                <a:sym typeface="Symbol" panose="05050102010706020507" pitchFamily="18" charset="2"/>
              </a:rPr>
              <a:t>.</a:t>
            </a:r>
            <a:endParaRPr lang="en-US" sz="22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10382-5927-46C1-911D-5F83F1289B71}"/>
              </a:ext>
            </a:extLst>
          </p:cNvPr>
          <p:cNvSpPr txBox="1"/>
          <p:nvPr/>
        </p:nvSpPr>
        <p:spPr>
          <a:xfrm>
            <a:off x="2364609" y="3258966"/>
            <a:ext cx="8391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200">
                <a:sym typeface="Symbol" panose="05050102010706020507" pitchFamily="18" charset="2"/>
              </a:rPr>
              <a:t>The integers </a:t>
            </a:r>
            <a:r>
              <a:rPr lang="en-US" altLang="en-US" sz="2200" err="1">
                <a:sym typeface="Symbol" panose="05050102010706020507" pitchFamily="18" charset="2"/>
              </a:rPr>
              <a:t>a</a:t>
            </a:r>
            <a:r>
              <a:rPr lang="en-US" altLang="en-US" sz="2200" baseline="-25000" err="1">
                <a:sym typeface="Symbol" panose="05050102010706020507" pitchFamily="18" charset="2"/>
              </a:rPr>
              <a:t>j</a:t>
            </a:r>
            <a:r>
              <a:rPr lang="en-US" altLang="en-US" sz="2200">
                <a:sym typeface="Symbol" panose="05050102010706020507" pitchFamily="18" charset="2"/>
              </a:rPr>
              <a:t>, j = 1, … ,30, are all distinct and the integers </a:t>
            </a:r>
            <a:r>
              <a:rPr lang="en-US" altLang="en-US" sz="2200">
                <a:latin typeface="+mj-lt"/>
              </a:rPr>
              <a:t> </a:t>
            </a:r>
            <a:r>
              <a:rPr lang="en-US" altLang="en-US" sz="2200" err="1">
                <a:latin typeface="+mj-lt"/>
              </a:rPr>
              <a:t>b</a:t>
            </a:r>
            <a:r>
              <a:rPr lang="en-US" altLang="en-US" sz="2200" baseline="-25000" err="1">
                <a:latin typeface="+mj-lt"/>
              </a:rPr>
              <a:t>j</a:t>
            </a:r>
            <a:r>
              <a:rPr lang="en-US" sz="220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altLang="en-US" sz="2200">
                <a:sym typeface="Symbol" panose="05050102010706020507" pitchFamily="18" charset="2"/>
              </a:rPr>
              <a:t>a</a:t>
            </a:r>
            <a:r>
              <a:rPr lang="en-US" altLang="en-US" sz="2200" baseline="-25000">
                <a:sym typeface="Symbol" panose="05050102010706020507" pitchFamily="18" charset="2"/>
              </a:rPr>
              <a:t>j</a:t>
            </a:r>
            <a:r>
              <a:rPr lang="en-US" altLang="en-US" sz="2200">
                <a:sym typeface="Symbol" panose="05050102010706020507" pitchFamily="18" charset="2"/>
              </a:rPr>
              <a:t>+14, j = 1, … ,30 are all distinct.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65F3AB-6945-4C3A-A87A-DC1FA31DDC8E}"/>
              </a:ext>
            </a:extLst>
          </p:cNvPr>
          <p:cNvSpPr txBox="1"/>
          <p:nvPr/>
        </p:nvSpPr>
        <p:spPr>
          <a:xfrm>
            <a:off x="3069810" y="4185697"/>
            <a:ext cx="7000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Pigeonholes = 59 (59 distinct number of games in two sequences )</a:t>
            </a:r>
          </a:p>
          <a:p>
            <a:endParaRPr lang="en-US" sz="1800"/>
          </a:p>
          <a:p>
            <a:r>
              <a:rPr lang="en-US" sz="1800"/>
              <a:t>Pigeons =  60 (60 possible numbers in two sequences)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81D9A4-992B-4C1A-9A60-A246D6BFAC02}"/>
              </a:ext>
            </a:extLst>
          </p:cNvPr>
          <p:cNvSpPr txBox="1"/>
          <p:nvPr/>
        </p:nvSpPr>
        <p:spPr>
          <a:xfrm>
            <a:off x="2406883" y="5135691"/>
            <a:ext cx="778442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>
                <a:solidFill>
                  <a:srgbClr val="FF0000"/>
                </a:solidFill>
                <a:sym typeface="Symbol" panose="05050102010706020507" pitchFamily="18" charset="2"/>
              </a:rPr>
              <a:t>By the pigeonhole principle, there must be indices </a:t>
            </a:r>
            <a:r>
              <a:rPr lang="en-US" altLang="en-US" sz="220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200">
                <a:solidFill>
                  <a:srgbClr val="FF0000"/>
                </a:solidFill>
                <a:sym typeface="Symbol" panose="05050102010706020507" pitchFamily="18" charset="2"/>
              </a:rPr>
              <a:t> and j </a:t>
            </a:r>
            <a:r>
              <a:rPr lang="en-US" altLang="en-US" sz="220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with </a:t>
            </a:r>
            <a:r>
              <a:rPr lang="en-US" altLang="en-US" sz="220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b</a:t>
            </a:r>
            <a:r>
              <a:rPr lang="en-US" altLang="en-US" sz="2200" baseline="-2500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j</a:t>
            </a:r>
            <a:r>
              <a:rPr lang="en-US" altLang="en-US" sz="220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= a</a:t>
            </a:r>
            <a:r>
              <a:rPr lang="en-US" altLang="en-US" sz="2200" baseline="-2500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i</a:t>
            </a:r>
            <a:r>
              <a:rPr lang="en-US" altLang="en-US" sz="220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= a</a:t>
            </a:r>
            <a:r>
              <a:rPr lang="en-US" altLang="en-US" sz="2200" baseline="-2500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j</a:t>
            </a:r>
            <a:r>
              <a:rPr lang="en-US" altLang="en-US" sz="220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+14. Equivalently, </a:t>
            </a:r>
            <a:r>
              <a:rPr lang="en-US" sz="2200">
                <a:solidFill>
                  <a:srgbClr val="FF0000"/>
                </a:solidFill>
                <a:latin typeface="+mj-lt"/>
                <a:ea typeface="Calibri" panose="020F0502020204030204" pitchFamily="34" charset="0"/>
              </a:rPr>
              <a:t>exactly 14 games were played from day j + 1 through day </a:t>
            </a:r>
            <a:r>
              <a:rPr lang="en-US" sz="2200" err="1">
                <a:solidFill>
                  <a:srgbClr val="FF0000"/>
                </a:solidFill>
                <a:latin typeface="+mj-lt"/>
                <a:ea typeface="Calibri" panose="020F0502020204030204" pitchFamily="34" charset="0"/>
              </a:rPr>
              <a:t>i</a:t>
            </a:r>
            <a:r>
              <a:rPr lang="en-US" sz="2200">
                <a:solidFill>
                  <a:srgbClr val="FF0000"/>
                </a:solidFill>
                <a:latin typeface="+mj-lt"/>
                <a:ea typeface="Calibri" panose="020F0502020204030204" pitchFamily="34" charset="0"/>
              </a:rPr>
              <a:t>.</a:t>
            </a:r>
            <a:endParaRPr lang="en-US" altLang="en-US" sz="2200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5221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1" grpId="0"/>
      <p:bldP spid="15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2434905" y="658626"/>
            <a:ext cx="8016642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Generalized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- Example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DC1F1417-D378-4A28-9C8E-DB858A53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878" y="1656243"/>
            <a:ext cx="8184122" cy="145097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 programmer writes 500 lines of computer code in 17 days. Must there have been at least 1 day when the programmer wrote 30 or more lines of code? Why?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BF9825-2907-4EB7-9E59-9F38E3D4C7D3}"/>
              </a:ext>
            </a:extLst>
          </p:cNvPr>
          <p:cNvSpPr txBox="1"/>
          <p:nvPr/>
        </p:nvSpPr>
        <p:spPr>
          <a:xfrm>
            <a:off x="2665774" y="3275610"/>
            <a:ext cx="466826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Pigeonholes =  17 (number of days)</a:t>
            </a:r>
          </a:p>
          <a:p>
            <a:endParaRPr lang="en-US" sz="2200"/>
          </a:p>
          <a:p>
            <a:r>
              <a:rPr lang="en-US" sz="2200"/>
              <a:t>Pigeons =  500 (lines of code)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355DF4-BF9D-417D-A2AA-370A8C267293}"/>
                  </a:ext>
                </a:extLst>
              </p:cNvPr>
              <p:cNvSpPr txBox="1"/>
              <p:nvPr/>
            </p:nvSpPr>
            <p:spPr>
              <a:xfrm>
                <a:off x="4774866" y="4786168"/>
                <a:ext cx="1723549" cy="914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/>
                  <a:t>29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200"/>
              </a:p>
              <a:p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355DF4-BF9D-417D-A2AA-370A8C26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866" y="4786168"/>
                <a:ext cx="1723549" cy="9149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E0A5067-CBB7-45FF-9AE9-082DFAA0D960}"/>
              </a:ext>
            </a:extLst>
          </p:cNvPr>
          <p:cNvSpPr txBox="1"/>
          <p:nvPr/>
        </p:nvSpPr>
        <p:spPr>
          <a:xfrm>
            <a:off x="2364608" y="5554727"/>
            <a:ext cx="72597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solidFill>
                  <a:srgbClr val="FF0000"/>
                </a:solidFill>
              </a:rPr>
              <a:t>By the generalized pigeonhole principle, at least one day contains  (29 +1) = 30 lines of code.</a:t>
            </a:r>
          </a:p>
        </p:txBody>
      </p:sp>
    </p:spTree>
    <p:extLst>
      <p:ext uri="{BB962C8B-B14F-4D97-AF65-F5344CB8AC3E}">
        <p14:creationId xmlns:p14="http://schemas.microsoft.com/office/powerpoint/2010/main" val="416062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  <p:bldP spid="30" grpId="0"/>
      <p:bldP spid="31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3C26257-7E48-4041-A088-B06F6069FFC3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1370504" y="757203"/>
            <a:ext cx="9005947" cy="463154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Contrapositive Form of Generalized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Pigeonhole Principle - Example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DC1F1417-D378-4A28-9C8E-DB858A53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878" y="1656243"/>
            <a:ext cx="8184122" cy="145097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 programmer writes 500 lines of computer code in 17 days. Must there have been at least 1 day when the programmer wrote 30 or more lines of code? Why?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BF9825-2907-4EB7-9E59-9F38E3D4C7D3}"/>
              </a:ext>
            </a:extLst>
          </p:cNvPr>
          <p:cNvSpPr txBox="1"/>
          <p:nvPr/>
        </p:nvSpPr>
        <p:spPr>
          <a:xfrm>
            <a:off x="2455912" y="2953722"/>
            <a:ext cx="42498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Pigeonholes =  17 (number of days)</a:t>
            </a:r>
          </a:p>
          <a:p>
            <a:endParaRPr lang="en-US" sz="2000"/>
          </a:p>
          <a:p>
            <a:r>
              <a:rPr lang="en-US" sz="2000"/>
              <a:t>Pigeons =  500 (lines of code)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E635A-7E0D-42B3-8BC5-EE151C81F967}"/>
              </a:ext>
            </a:extLst>
          </p:cNvPr>
          <p:cNvSpPr txBox="1"/>
          <p:nvPr/>
        </p:nvSpPr>
        <p:spPr>
          <a:xfrm>
            <a:off x="7589629" y="3146084"/>
            <a:ext cx="24160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By contradiction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68D85-14F9-4BA0-B264-78BCFC22967A}"/>
              </a:ext>
            </a:extLst>
          </p:cNvPr>
          <p:cNvSpPr txBox="1"/>
          <p:nvPr/>
        </p:nvSpPr>
        <p:spPr>
          <a:xfrm>
            <a:off x="2483878" y="4154093"/>
            <a:ext cx="68337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  <a:ea typeface="Calibri" panose="020F0502020204030204" pitchFamily="34" charset="0"/>
              </a:rPr>
              <a:t>Suppose that at most 29 lines of code were written.</a:t>
            </a:r>
            <a:endParaRPr lang="en-US" sz="200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48330-7EC6-4093-952C-25CAB24BAE37}"/>
              </a:ext>
            </a:extLst>
          </p:cNvPr>
          <p:cNvSpPr txBox="1"/>
          <p:nvPr/>
        </p:nvSpPr>
        <p:spPr>
          <a:xfrm>
            <a:off x="2483878" y="4738911"/>
            <a:ext cx="77885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Arabic Typesetting" panose="020B0604020202020204" pitchFamily="66" charset="-78"/>
              </a:rPr>
              <a:t>By the contrapositive form of the GPHP, the total number of lines of code (pigeons) would be at most 29*17= 493. </a:t>
            </a:r>
            <a:endParaRPr lang="en-US" sz="2000">
              <a:solidFill>
                <a:srgbClr val="FF0000"/>
              </a:solidFill>
              <a:latin typeface="+mn-lt"/>
              <a:cs typeface="Arabic Typesetting" panose="020B0604020202020204" pitchFamily="66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48B3E-33B2-483C-8FB3-95E96A87A32F}"/>
              </a:ext>
            </a:extLst>
          </p:cNvPr>
          <p:cNvSpPr txBox="1"/>
          <p:nvPr/>
        </p:nvSpPr>
        <p:spPr>
          <a:xfrm>
            <a:off x="2455912" y="5626913"/>
            <a:ext cx="77885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n-lt"/>
                <a:ea typeface="Calibri" panose="020F0502020204030204" pitchFamily="34" charset="0"/>
              </a:rPr>
              <a:t>Which is a contradiction to the fact that a total of 500 lines of code was written. 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749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Recursive Definitions&amp;quot;&quot;/&gt;&lt;property id=&quot;20307&quot; value=&quot;662&quot;/&gt;&lt;/object&gt;&lt;object type=&quot;3&quot; unique_id=&quot;10013&quot;&gt;&lt;property id=&quot;20148&quot; value=&quot;5&quot;/&gt;&lt;property id=&quot;20300&quot; value=&quot;Slide 11 - &amp;quot;Learning Objective&amp;quot;&quot;/&gt;&lt;property id=&quot;20307&quot; value=&quot;660&quot;/&gt;&lt;/object&gt;&lt;object type=&quot;3&quot; unique_id=&quot;10040&quot;&gt;&lt;property id=&quot;20148&quot; value=&quot;5&quot;/&gt;&lt;property id=&quot;20300&quot; value=&quot;Slide 9 - &amp;quot;Example: Set of all Trinary Trees&amp;quot;&quot;/&gt;&lt;property id=&quot;20307&quot; value=&quot;698&quot;/&gt;&lt;/object&gt;&lt;object type=&quot;3&quot; unique_id=&quot;10094&quot;&gt;&lt;property id=&quot;20148&quot; value=&quot;5&quot;/&gt;&lt;property id=&quot;20300&quot; value=&quot;Slide 4 - &amp;quot;Recursively Defined Functions&amp;quot;&quot;/&gt;&lt;property id=&quot;20307&quot; value=&quot;741&quot;/&gt;&lt;/object&gt;&lt;object type=&quot;3&quot; unique_id=&quot;10546&quot;&gt;&lt;property id=&quot;20148&quot; value=&quot;5&quot;/&gt;&lt;property id=&quot;20300&quot; value=&quot;Slide 2 - &amp;quot;Example&amp;quot;&quot;/&gt;&lt;property id=&quot;20307&quot; value=&quot;751&quot;/&gt;&lt;/object&gt;&lt;object type=&quot;3&quot; unique_id=&quot;10547&quot;&gt;&lt;property id=&quot;20148&quot; value=&quot;5&quot;/&gt;&lt;property id=&quot;20300&quot; value=&quot;Slide 3 - &amp;quot;Example&amp;quot;&quot;/&gt;&lt;property id=&quot;20307&quot; value=&quot;752&quot;/&gt;&lt;/object&gt;&lt;object type=&quot;3&quot; unique_id=&quot;10548&quot;&gt;&lt;property id=&quot;20148&quot; value=&quot;5&quot;/&gt;&lt;property id=&quot;20300&quot; value=&quot;Slide 5 - &amp;quot;Example&amp;quot;&quot;/&gt;&lt;property id=&quot;20307&quot; value=&quot;753&quot;/&gt;&lt;/object&gt;&lt;object type=&quot;3&quot; unique_id=&quot;10549&quot;&gt;&lt;property id=&quot;20148&quot; value=&quot;5&quot;/&gt;&lt;property id=&quot;20300&quot; value=&quot;Slide 6 - &amp;quot;Example: Recursively Defined Set&amp;quot;&quot;/&gt;&lt;property id=&quot;20307&quot; value=&quot;755&quot;/&gt;&lt;/object&gt;&lt;object type=&quot;3&quot; unique_id=&quot;10550&quot;&gt;&lt;property id=&quot;20148&quot; value=&quot;5&quot;/&gt;&lt;property id=&quot;20300&quot; value=&quot;Slide 7 - &amp;quot;Recursively Defined Sets&amp;quot;&quot;/&gt;&lt;property id=&quot;20307&quot; value=&quot;754&quot;/&gt;&lt;/object&gt;&lt;object type=&quot;3&quot; unique_id=&quot;10551&quot;&gt;&lt;property id=&quot;20148&quot; value=&quot;5&quot;/&gt;&lt;property id=&quot;20300&quot; value=&quot;Slide 8 - &amp;quot;Example: Recursively Defined Set&amp;quot;&quot;/&gt;&lt;property id=&quot;20307&quot; value=&quot;756&quot;/&gt;&lt;/object&gt;&lt;object type=&quot;3&quot; unique_id=&quot;10552&quot;&gt;&lt;property id=&quot;20148&quot; value=&quot;5&quot;/&gt;&lt;property id=&quot;20300&quot; value=&quot;Slide 10 - &amp;quot;Example: Set of all Trinary Trees&amp;quot;&quot;/&gt;&lt;property id=&quot;20307&quot; value=&quot;75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ngi">
  <a:themeElements>
    <a:clrScheme name="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ng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gi 1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FF0000"/>
        </a:accent1>
        <a:accent2>
          <a:srgbClr val="00FF00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00E700"/>
        </a:accent6>
        <a:hlink>
          <a:srgbClr val="0000FF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04CB274B7A0C47B2B5F59BD983270C" ma:contentTypeVersion="12" ma:contentTypeDescription="Create a new document." ma:contentTypeScope="" ma:versionID="9c9d1208cfd2f7202299c1df5da9cee5">
  <xsd:schema xmlns:xsd="http://www.w3.org/2001/XMLSchema" xmlns:xs="http://www.w3.org/2001/XMLSchema" xmlns:p="http://schemas.microsoft.com/office/2006/metadata/properties" xmlns:ns3="69bfb609-128d-48f5-b291-3569dc6ac972" xmlns:ns4="483e3396-6f8b-4e7a-9dd7-3cf4877c2751" targetNamespace="http://schemas.microsoft.com/office/2006/metadata/properties" ma:root="true" ma:fieldsID="1e58da5e09548b951140d4318fe648c4" ns3:_="" ns4:_="">
    <xsd:import namespace="69bfb609-128d-48f5-b291-3569dc6ac972"/>
    <xsd:import namespace="483e3396-6f8b-4e7a-9dd7-3cf4877c27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fb609-128d-48f5-b291-3569dc6ac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e3396-6f8b-4e7a-9dd7-3cf4877c275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29822E-BBFC-4F4E-8C94-156B294C50EB}">
  <ds:schemaRefs>
    <ds:schemaRef ds:uri="483e3396-6f8b-4e7a-9dd7-3cf4877c2751"/>
    <ds:schemaRef ds:uri="69bfb609-128d-48f5-b291-3569dc6ac9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DF6851-382E-4747-8E49-73A15B3F04B0}">
  <ds:schemaRefs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69bfb609-128d-48f5-b291-3569dc6ac972"/>
    <ds:schemaRef ds:uri="http://purl.org/dc/terms/"/>
    <ds:schemaRef ds:uri="http://schemas.microsoft.com/office/2006/metadata/properties"/>
    <ds:schemaRef ds:uri="http://schemas.microsoft.com/office/infopath/2007/PartnerControls"/>
    <ds:schemaRef ds:uri="483e3396-6f8b-4e7a-9dd7-3cf4877c275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055753-43BB-4582-B98D-2C0922859A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Designs\ngi.pot</Template>
  <TotalTime>2</TotalTime>
  <Words>731</Words>
  <Application>Microsoft Office PowerPoint</Application>
  <PresentationFormat>Widescreen</PresentationFormat>
  <Paragraphs>56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Cambria Math</vt:lpstr>
      <vt:lpstr>Comic Sans MS</vt:lpstr>
      <vt:lpstr>Courier New</vt:lpstr>
      <vt:lpstr>Helvetica</vt:lpstr>
      <vt:lpstr>Marlett</vt:lpstr>
      <vt:lpstr>Times New Roman</vt:lpstr>
      <vt:lpstr>Verdana</vt:lpstr>
      <vt:lpstr>ngi</vt:lpstr>
      <vt:lpstr>Think out Loud- Pigeonhole Principles</vt:lpstr>
      <vt:lpstr> Pigeonhole Principle – Example 1</vt:lpstr>
      <vt:lpstr> Pigeonhole Principle – Example 2</vt:lpstr>
      <vt:lpstr> Pigeonhole Principle – Example 3</vt:lpstr>
      <vt:lpstr> Pigeonhole Principle – Example 4 </vt:lpstr>
      <vt:lpstr> Pigeonhole Principle – Example 4(cont.)</vt:lpstr>
      <vt:lpstr> Generalized Pigeonhole Principle - Example</vt:lpstr>
      <vt:lpstr> Contrapositive Form of Generalized Pigeonhole Principle - Example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NMS PI meeting, September 27-29, 2000</dc:subject>
  <dc:creator>Edwin Chong</dc:creator>
  <cp:lastModifiedBy>Duff, David Alexander</cp:lastModifiedBy>
  <cp:revision>3</cp:revision>
  <cp:lastPrinted>2000-09-21T19:28:55Z</cp:lastPrinted>
  <dcterms:created xsi:type="dcterms:W3CDTF">1999-04-21T20:02:09Z</dcterms:created>
  <dcterms:modified xsi:type="dcterms:W3CDTF">2021-12-08T20:42:11Z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0x010100AA04CB274B7A0C47B2B5F59BD983270C</vt:lpwstr>
  </property>
</Properties>
</file>